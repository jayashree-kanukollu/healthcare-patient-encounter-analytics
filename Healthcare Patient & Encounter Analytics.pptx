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8" r:id="rId2"/>
    <p:sldId id="259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DE982B-8F9F-46FA-A96C-99CFB8558820}" v="1" dt="2026-10-20T22:29:01.726"/>
    <p1510:client id="{D594D292-B8F9-4722-992D-658D53040A0A}" v="1" dt="2026-10-20T15:58:59.7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9" d="100"/>
          <a:sy n="69" d="100"/>
        </p:scale>
        <p:origin x="564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sree K" userId="b5e999833a63767f" providerId="LiveId" clId="{42531325-D360-40FF-B73F-66EBE9688B28}"/>
    <pc:docChg chg="undo custSel modSld">
      <pc:chgData name="Jayasree K" userId="b5e999833a63767f" providerId="LiveId" clId="{42531325-D360-40FF-B73F-66EBE9688B28}" dt="2026-10-20T22:29:20.261" v="97" actId="1076"/>
      <pc:docMkLst>
        <pc:docMk/>
      </pc:docMkLst>
      <pc:sldChg chg="modSp mod">
        <pc:chgData name="Jayasree K" userId="b5e999833a63767f" providerId="LiveId" clId="{42531325-D360-40FF-B73F-66EBE9688B28}" dt="2026-10-20T15:53:11.742" v="8" actId="14100"/>
        <pc:sldMkLst>
          <pc:docMk/>
          <pc:sldMk cId="267107103" sldId="261"/>
        </pc:sldMkLst>
        <pc:spChg chg="mod">
          <ac:chgData name="Jayasree K" userId="b5e999833a63767f" providerId="LiveId" clId="{42531325-D360-40FF-B73F-66EBE9688B28}" dt="2026-10-20T15:53:11.742" v="8" actId="14100"/>
          <ac:spMkLst>
            <pc:docMk/>
            <pc:sldMk cId="267107103" sldId="261"/>
            <ac:spMk id="4" creationId="{FF286221-7E87-7A71-A55A-FA94331AD07E}"/>
          </ac:spMkLst>
        </pc:spChg>
        <pc:spChg chg="mod">
          <ac:chgData name="Jayasree K" userId="b5e999833a63767f" providerId="LiveId" clId="{42531325-D360-40FF-B73F-66EBE9688B28}" dt="2026-10-20T15:52:55.943" v="7" actId="20577"/>
          <ac:spMkLst>
            <pc:docMk/>
            <pc:sldMk cId="267107103" sldId="261"/>
            <ac:spMk id="6" creationId="{5F7FBD60-F603-6D85-6334-79BF2C460F2E}"/>
          </ac:spMkLst>
        </pc:spChg>
      </pc:sldChg>
      <pc:sldChg chg="modSp mod">
        <pc:chgData name="Jayasree K" userId="b5e999833a63767f" providerId="LiveId" clId="{42531325-D360-40FF-B73F-66EBE9688B28}" dt="2026-10-20T22:29:20.261" v="97" actId="1076"/>
        <pc:sldMkLst>
          <pc:docMk/>
          <pc:sldMk cId="2982241733" sldId="264"/>
        </pc:sldMkLst>
        <pc:spChg chg="mod">
          <ac:chgData name="Jayasree K" userId="b5e999833a63767f" providerId="LiveId" clId="{42531325-D360-40FF-B73F-66EBE9688B28}" dt="2026-10-20T22:29:20.261" v="97" actId="1076"/>
          <ac:spMkLst>
            <pc:docMk/>
            <pc:sldMk cId="2982241733" sldId="264"/>
            <ac:spMk id="8" creationId="{46C5B0FC-88F7-836E-124D-E1F2313E2A45}"/>
          </ac:spMkLst>
        </pc:spChg>
        <pc:picChg chg="mod">
          <ac:chgData name="Jayasree K" userId="b5e999833a63767f" providerId="LiveId" clId="{42531325-D360-40FF-B73F-66EBE9688B28}" dt="2026-10-20T22:27:55.791" v="91" actId="14100"/>
          <ac:picMkLst>
            <pc:docMk/>
            <pc:sldMk cId="2982241733" sldId="264"/>
            <ac:picMk id="7" creationId="{9FE3528A-0327-9EAF-31E6-DAD5256429D0}"/>
          </ac:picMkLst>
        </pc:picChg>
      </pc:sldChg>
      <pc:sldChg chg="modSp mod">
        <pc:chgData name="Jayasree K" userId="b5e999833a63767f" providerId="LiveId" clId="{42531325-D360-40FF-B73F-66EBE9688B28}" dt="2026-10-20T15:58:11.597" v="20" actId="20577"/>
        <pc:sldMkLst>
          <pc:docMk/>
          <pc:sldMk cId="2226065072" sldId="265"/>
        </pc:sldMkLst>
        <pc:spChg chg="mod">
          <ac:chgData name="Jayasree K" userId="b5e999833a63767f" providerId="LiveId" clId="{42531325-D360-40FF-B73F-66EBE9688B28}" dt="2026-10-20T15:58:11.597" v="20" actId="20577"/>
          <ac:spMkLst>
            <pc:docMk/>
            <pc:sldMk cId="2226065072" sldId="265"/>
            <ac:spMk id="8" creationId="{5C222C25-45C2-2E9A-7D1E-2D78FFBC5124}"/>
          </ac:spMkLst>
        </pc:spChg>
      </pc:sldChg>
      <pc:sldChg chg="modSp mod">
        <pc:chgData name="Jayasree K" userId="b5e999833a63767f" providerId="LiveId" clId="{42531325-D360-40FF-B73F-66EBE9688B28}" dt="2026-10-20T15:59:51.230" v="88" actId="20577"/>
        <pc:sldMkLst>
          <pc:docMk/>
          <pc:sldMk cId="1532989497" sldId="266"/>
        </pc:sldMkLst>
        <pc:spChg chg="mod">
          <ac:chgData name="Jayasree K" userId="b5e999833a63767f" providerId="LiveId" clId="{42531325-D360-40FF-B73F-66EBE9688B28}" dt="2026-10-20T15:59:51.230" v="88" actId="20577"/>
          <ac:spMkLst>
            <pc:docMk/>
            <pc:sldMk cId="1532989497" sldId="266"/>
            <ac:spMk id="7" creationId="{BB92AFE5-88F7-054B-661D-2F82D5A485A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1FFB47-A8A8-4748-9CCF-9476ADD7986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E3CDD9-170B-4366-A986-D1F120753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933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3CDD9-170B-4366-A986-D1F12075332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739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F8E24-BF29-CB72-2C3B-997CFCA11E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D7CC31-1D30-2DB8-697B-803D2E074A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9DA4B-1B0E-31AA-F2A8-3F48ACC84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4A6E8-EEC5-4E7C-95C1-055817B0AF6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BA510-A90F-C46F-A511-E2DF74CE6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2CC15-5A81-6375-B60A-F452DEC6D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86CC-B204-4640-A74F-E33195D62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33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C5F8-766F-1B67-EA2C-F4AF0515D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FFD7F-7A1E-A7A6-1DF6-A98DFA5B1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8FA1B-EA39-A6E4-FA78-B5C97DE6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4A6E8-EEC5-4E7C-95C1-055817B0AF6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808BC-3047-188B-7D13-5FE9F2DDD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9A863-6E80-88F1-839C-2DAC144CB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86CC-B204-4640-A74F-E33195D62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718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538B2-4799-95CA-C51A-BAC168809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8C40AF-0545-F999-689B-A4A6B60F5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AB716-3B26-5A5F-CD63-4E19251A2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4A6E8-EEC5-4E7C-95C1-055817B0AF6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64194-8381-56BF-1127-C3E8BA503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F1823-B50C-3426-5C95-545D556E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86CC-B204-4640-A74F-E33195D62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185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C9FE4-FEEC-2BA6-21D6-678DFBC33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A2E4E-C4A0-4882-AA02-2553C5C7DC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466E9B-4E71-8785-2199-290EC2DE4B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27FB9D-F5A1-E76F-6682-3719EDE1A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4A6E8-EEC5-4E7C-95C1-055817B0AF6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AD91D-2069-771F-484F-DFB8EB1E1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8E402-3B52-0606-C09F-6FA5349FD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86CC-B204-4640-A74F-E33195D62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559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9DBBE-8E25-FBBB-4A6A-04E55CA8E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2E5502-B071-15C0-FCBB-1463E5282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F48506-55FB-59C8-E46F-18B7CCAC2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DABFB5-A02B-C0D2-0CEA-47E2A24C37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E30503-5149-D7F5-40C9-B78228EF0F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6BB43-F6C0-0879-331C-D005CDBC8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4A6E8-EEC5-4E7C-95C1-055817B0AF6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071287-AEA5-8C2F-8AB6-0434FFE08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F00658-B2B8-D9F3-E30A-4089FC06F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86CC-B204-4640-A74F-E33195D62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58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576B1-13E5-31FE-247B-3CEF3F68E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411A0B-12B9-A250-BCD0-0EAFE7DF1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4A6E8-EEC5-4E7C-95C1-055817B0AF6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F0709E-90DD-967E-8798-1B0003DF6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D31A2E-9B34-AED6-878F-5DFC70EFA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86CC-B204-4640-A74F-E33195D62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056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9E0E1C-3A38-6E97-E825-B2F8F0F15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4A6E8-EEC5-4E7C-95C1-055817B0AF6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CB2B90-485D-4988-45EC-31A407982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2897C-7724-13E0-B464-50EC1E73D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86CC-B204-4640-A74F-E33195D62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788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6A050-6A4C-40AD-E405-74F89985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12C8A-0096-0AE1-BA02-6B769F188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C267E3-DAB1-82AE-DBC7-93CEF98EAD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9395BF-BB85-1880-C142-8858E94AB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4A6E8-EEC5-4E7C-95C1-055817B0AF6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A5CAC7-CD6F-F150-F4CA-3048F9AF0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DECF7C-9B4D-EF15-3007-4105E9DED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86CC-B204-4640-A74F-E33195D62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155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CDDAA-4282-DD83-CAF7-0073FEC6B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DC8236-B103-15BA-CA3E-A50FB4CDB00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003A88-BC27-22E6-238A-CB61BE7F0C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A639C3-D9B2-E7C0-2CE7-307E98F95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4A6E8-EEC5-4E7C-95C1-055817B0AF6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B84F52-4EE4-30E5-692A-C88ADE7F6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B748E5-0ACB-46C0-F866-7C186E89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86CC-B204-4640-A74F-E33195D62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73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57AF-0C3D-5C81-F47B-1957307F1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DD0092-26AD-1114-E5DD-C43827BF22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9A00A-8F15-2355-C2C9-DA5D5E449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4A6E8-EEC5-4E7C-95C1-055817B0AF6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0870F-06AA-6F03-C1CB-796D0C23D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C9BFC-5BA8-2329-312B-33AF3BD8D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86CC-B204-4640-A74F-E33195D62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375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EB2545-EA8B-DDE2-2A76-1CB77FEE48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90935F-213A-C70F-287A-F27E72D4BF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30BF5-9061-F88B-9FD6-0A83EC1EF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4A6E8-EEC5-4E7C-95C1-055817B0AF6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83983-F73B-C15B-2EC6-64E9373CD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6E881-3DE8-484F-CAA8-2A98BF79E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86CC-B204-4640-A74F-E33195D62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658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197DF6-BDFD-4350-26BA-79C99BC6D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EF536E-F492-FA3E-A8C2-A468D4D53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9F506-0C6C-525C-89B0-F014615F1E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D4A6E8-EEC5-4E7C-95C1-055817B0AF6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40186-025C-EFE9-C79E-9A8190FF38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868E0-E759-BC5F-5C9F-3B3759B22F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8A86CC-B204-4640-A74F-E33195D62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10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FF13B-0540-FE7A-1AD8-AED8AC2B4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Healthcare Patient &amp; Encounter Analytics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2657C-E7FF-76D5-B3E0-FAF73884B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Clinical Data Quality, Healthcare Utilization &amp; Predictive Analytics</a:t>
            </a:r>
            <a:endParaRPr lang="en-US" sz="2400" dirty="0"/>
          </a:p>
          <a:p>
            <a:pPr marL="0" indent="0">
              <a:buNone/>
            </a:pPr>
            <a:r>
              <a:rPr lang="en-US" dirty="0"/>
              <a:t>                                       </a:t>
            </a:r>
          </a:p>
          <a:p>
            <a:pPr marL="0" indent="0">
              <a:buNone/>
            </a:pPr>
            <a:r>
              <a:rPr lang="en-US" b="1" dirty="0"/>
              <a:t>                                             Jayashree </a:t>
            </a:r>
            <a:r>
              <a:rPr lang="en-US" b="1" dirty="0" err="1"/>
              <a:t>Kanukollu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Clinical Quality Analyst — Work Sample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Tools:</a:t>
            </a:r>
            <a:r>
              <a:rPr lang="en-US" dirty="0"/>
              <a:t> MySQL | Microsoft Excel | Power BI | Python</a:t>
            </a:r>
          </a:p>
          <a:p>
            <a:pPr marL="0" indent="0">
              <a:buNone/>
            </a:pPr>
            <a:r>
              <a:rPr lang="en-US" b="1" dirty="0"/>
              <a:t>Data Sources:</a:t>
            </a:r>
            <a:r>
              <a:rPr lang="en-US" dirty="0"/>
              <a:t> Synthea Synthetic Healthcare Data and CMS Medicare Part D Public-Use Data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471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77310-08A8-96DA-3E88-A08CC65EC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Healthcare Business Problem &amp; Objectives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40D75-3E40-5B46-6948-B003A08985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71074"/>
            <a:ext cx="5181600" cy="50058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Business Problem</a:t>
            </a:r>
          </a:p>
          <a:p>
            <a:pPr marL="0" indent="0">
              <a:buNone/>
            </a:pPr>
            <a:r>
              <a:rPr lang="en-US" dirty="0"/>
              <a:t>Limited visibility into healthcare utilization, claim costs, and encounter documentation completeness.</a:t>
            </a:r>
          </a:p>
          <a:p>
            <a:pPr marL="0" indent="0">
              <a:buNone/>
            </a:pPr>
            <a:r>
              <a:rPr lang="en-US" dirty="0"/>
              <a:t>Need to transform complex healthcare records into actionable insights for operational decision-making.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AC344-A6B2-5F59-D36D-F18978C044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71073"/>
            <a:ext cx="5181600" cy="50058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Project Objectives</a:t>
            </a:r>
          </a:p>
          <a:p>
            <a:pPr marL="0" indent="0">
              <a:buNone/>
            </a:pPr>
            <a:r>
              <a:rPr lang="en-US" dirty="0"/>
              <a:t>Validate data quality and analyze utilization and costs.</a:t>
            </a:r>
          </a:p>
          <a:p>
            <a:pPr marL="0" indent="0">
              <a:buNone/>
            </a:pPr>
            <a:r>
              <a:rPr lang="en-US" dirty="0"/>
              <a:t>Apply statistical models, develop interactive dashboards, and propose improvements.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2C778B-9847-28B3-928F-3764BB60D667}"/>
              </a:ext>
            </a:extLst>
          </p:cNvPr>
          <p:cNvSpPr txBox="1"/>
          <p:nvPr/>
        </p:nvSpPr>
        <p:spPr>
          <a:xfrm>
            <a:off x="625641" y="5292546"/>
            <a:ext cx="114059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Expected Outcome</a:t>
            </a:r>
            <a:endParaRPr lang="en-US" dirty="0"/>
          </a:p>
          <a:p>
            <a:r>
              <a:rPr lang="en-US" sz="2800" dirty="0"/>
              <a:t>A reproducible, stakeholder-friendly analysis supporting healthcare data quality monitoring and operational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581589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AA405-8F39-D8A2-CD96-2EA07141B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Dataset Description &amp; Analytical Workflow</a:t>
            </a:r>
            <a:endParaRPr lang="en-US" sz="36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F286221-7E87-7A71-A55A-FA94331AD07E}"/>
              </a:ext>
            </a:extLst>
          </p:cNvPr>
          <p:cNvSpPr/>
          <p:nvPr/>
        </p:nvSpPr>
        <p:spPr>
          <a:xfrm>
            <a:off x="1123309" y="1645683"/>
            <a:ext cx="2278259" cy="183857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PATIENTS</a:t>
            </a:r>
          </a:p>
          <a:p>
            <a:pPr algn="ctr"/>
            <a:r>
              <a:rPr lang="en-US" sz="3200" dirty="0"/>
              <a:t>108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7FBD60-F603-6D85-6334-79BF2C460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5378" y="1934920"/>
            <a:ext cx="2883570" cy="126010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marL="0" indent="0" algn="ctr">
              <a:buNone/>
            </a:pPr>
            <a:r>
              <a:rPr lang="en-US" sz="3200" dirty="0"/>
              <a:t>ENCOUNTERS</a:t>
            </a:r>
          </a:p>
          <a:p>
            <a:pPr marL="0" indent="0" algn="ctr">
              <a:buNone/>
            </a:pPr>
            <a:r>
              <a:rPr lang="en-US" sz="3200" dirty="0"/>
              <a:t>5,571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BEC3A9C-D8AD-0478-D687-D3E5A14E7438}"/>
              </a:ext>
            </a:extLst>
          </p:cNvPr>
          <p:cNvSpPr/>
          <p:nvPr/>
        </p:nvSpPr>
        <p:spPr>
          <a:xfrm>
            <a:off x="7921508" y="1587782"/>
            <a:ext cx="2935705" cy="175052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DATA SOURCE</a:t>
            </a:r>
          </a:p>
          <a:p>
            <a:pPr algn="ctr"/>
            <a:r>
              <a:rPr lang="en-US" sz="3200" dirty="0"/>
              <a:t>Synthea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EF72063-6911-5105-7648-7F049CDBE032}"/>
              </a:ext>
            </a:extLst>
          </p:cNvPr>
          <p:cNvSpPr/>
          <p:nvPr/>
        </p:nvSpPr>
        <p:spPr>
          <a:xfrm>
            <a:off x="6579987" y="4010527"/>
            <a:ext cx="2590083" cy="1379621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POWER BI</a:t>
            </a:r>
          </a:p>
          <a:p>
            <a:pPr algn="ctr"/>
            <a:r>
              <a:rPr lang="en-US" sz="2400" dirty="0"/>
              <a:t>Dashboards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78271D0-C0D4-22DE-2861-34D4949504E1}"/>
              </a:ext>
            </a:extLst>
          </p:cNvPr>
          <p:cNvSpPr/>
          <p:nvPr/>
        </p:nvSpPr>
        <p:spPr>
          <a:xfrm>
            <a:off x="9389361" y="4010527"/>
            <a:ext cx="2465755" cy="132556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PYTHON</a:t>
            </a:r>
          </a:p>
          <a:p>
            <a:pPr algn="ctr"/>
            <a:r>
              <a:rPr lang="en-US" sz="2400" dirty="0"/>
              <a:t>Statistics &amp; ML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E710564-1279-A98F-5828-676A4CF4FA90}"/>
              </a:ext>
            </a:extLst>
          </p:cNvPr>
          <p:cNvSpPr/>
          <p:nvPr/>
        </p:nvSpPr>
        <p:spPr>
          <a:xfrm>
            <a:off x="561475" y="4058652"/>
            <a:ext cx="2727157" cy="128336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EXCEL</a:t>
            </a:r>
          </a:p>
          <a:p>
            <a:pPr algn="ctr"/>
            <a:r>
              <a:rPr lang="en-US" sz="2400" dirty="0"/>
              <a:t>Data Validation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DD697ED-9152-6005-2188-8AC417D32901}"/>
              </a:ext>
            </a:extLst>
          </p:cNvPr>
          <p:cNvSpPr/>
          <p:nvPr/>
        </p:nvSpPr>
        <p:spPr>
          <a:xfrm>
            <a:off x="3513223" y="4037554"/>
            <a:ext cx="2842173" cy="132556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MYSQL</a:t>
            </a:r>
          </a:p>
          <a:p>
            <a:pPr algn="ctr"/>
            <a:r>
              <a:rPr lang="en-US" sz="2400" dirty="0"/>
              <a:t>Analysis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EA64D1-E102-6C91-2E7D-07EFB178081E}"/>
              </a:ext>
            </a:extLst>
          </p:cNvPr>
          <p:cNvSpPr txBox="1"/>
          <p:nvPr/>
        </p:nvSpPr>
        <p:spPr>
          <a:xfrm>
            <a:off x="2053389" y="5959462"/>
            <a:ext cx="79568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Synthetic patient and encounter data — no real PHI</a:t>
            </a:r>
          </a:p>
        </p:txBody>
      </p:sp>
      <p:pic>
        <p:nvPicPr>
          <p:cNvPr id="26" name="Graphic 25" descr="Table with solid fill">
            <a:extLst>
              <a:ext uri="{FF2B5EF4-FFF2-40B4-BE49-F238E27FC236}">
                <a16:creationId xmlns:a16="http://schemas.microsoft.com/office/drawing/2014/main" id="{D0EEB06C-D738-2C8B-7B92-D9F0B9544D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68486" y="4342689"/>
            <a:ext cx="357646" cy="357646"/>
          </a:xfrm>
          <a:prstGeom prst="rect">
            <a:avLst/>
          </a:prstGeom>
        </p:spPr>
      </p:pic>
      <p:pic>
        <p:nvPicPr>
          <p:cNvPr id="28" name="Graphic 27" descr="Database outline">
            <a:extLst>
              <a:ext uri="{FF2B5EF4-FFF2-40B4-BE49-F238E27FC236}">
                <a16:creationId xmlns:a16="http://schemas.microsoft.com/office/drawing/2014/main" id="{B635472A-4F0F-ACF7-B658-1D63F62B90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4631" y="4287163"/>
            <a:ext cx="457200" cy="457200"/>
          </a:xfrm>
          <a:prstGeom prst="rect">
            <a:avLst/>
          </a:prstGeom>
        </p:spPr>
      </p:pic>
      <p:pic>
        <p:nvPicPr>
          <p:cNvPr id="30" name="Graphic 29" descr="Signal outline">
            <a:extLst>
              <a:ext uri="{FF2B5EF4-FFF2-40B4-BE49-F238E27FC236}">
                <a16:creationId xmlns:a16="http://schemas.microsoft.com/office/drawing/2014/main" id="{17BED91E-EC5F-1F08-A66D-18F48BC594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12870" y="4208937"/>
            <a:ext cx="457200" cy="457200"/>
          </a:xfrm>
          <a:prstGeom prst="rect">
            <a:avLst/>
          </a:prstGeom>
        </p:spPr>
      </p:pic>
      <p:pic>
        <p:nvPicPr>
          <p:cNvPr id="32" name="Graphic 31" descr="Server outline">
            <a:extLst>
              <a:ext uri="{FF2B5EF4-FFF2-40B4-BE49-F238E27FC236}">
                <a16:creationId xmlns:a16="http://schemas.microsoft.com/office/drawing/2014/main" id="{5C9BC032-2BB2-ED77-E833-4C72879D7E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4287163"/>
            <a:ext cx="501316" cy="501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07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91B9E3-D520-166F-AA89-FDC20E410EBC}"/>
              </a:ext>
            </a:extLst>
          </p:cNvPr>
          <p:cNvSpPr txBox="1"/>
          <p:nvPr/>
        </p:nvSpPr>
        <p:spPr>
          <a:xfrm>
            <a:off x="1732548" y="368968"/>
            <a:ext cx="90317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Data Cleaning &amp; Validation Findings</a:t>
            </a:r>
          </a:p>
          <a:p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17D9B06-9C2F-D232-8BD7-98301EA21F16}"/>
              </a:ext>
            </a:extLst>
          </p:cNvPr>
          <p:cNvSpPr/>
          <p:nvPr/>
        </p:nvSpPr>
        <p:spPr>
          <a:xfrm>
            <a:off x="1812759" y="3630434"/>
            <a:ext cx="4363453" cy="192906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Data Integrity Checks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108 patients, 5,571 encounters</a:t>
            </a:r>
          </a:p>
          <a:p>
            <a:pPr algn="ctr"/>
            <a:endParaRPr lang="en-US" b="1" dirty="0"/>
          </a:p>
          <a:p>
            <a:pPr algn="ctr"/>
            <a:r>
              <a:rPr lang="en-US" dirty="0"/>
              <a:t> 0 duplicate IDs</a:t>
            </a:r>
          </a:p>
          <a:p>
            <a:pPr algn="ctr"/>
            <a:r>
              <a:rPr lang="en-US" dirty="0"/>
              <a:t> 0 unmatched patient references</a:t>
            </a:r>
          </a:p>
          <a:p>
            <a:pPr algn="ctr"/>
            <a:r>
              <a:rPr lang="en-US" dirty="0"/>
              <a:t> 0 invalid encounter date sequences</a:t>
            </a:r>
          </a:p>
          <a:p>
            <a:pPr algn="ctr"/>
            <a:r>
              <a:rPr lang="en-US" dirty="0"/>
              <a:t> 0 missing or nonpositive claim costs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3330989-1D6C-4398-29BC-A19DD472484D}"/>
              </a:ext>
            </a:extLst>
          </p:cNvPr>
          <p:cNvSpPr/>
          <p:nvPr/>
        </p:nvSpPr>
        <p:spPr>
          <a:xfrm>
            <a:off x="6176212" y="1015299"/>
            <a:ext cx="4965031" cy="426719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Key Data Quality Finding</a:t>
            </a:r>
          </a:p>
          <a:p>
            <a:pPr algn="ctr"/>
            <a:endParaRPr lang="en-US" sz="2000" b="1" dirty="0"/>
          </a:p>
          <a:p>
            <a:pPr algn="ctr"/>
            <a:r>
              <a:rPr lang="en-US" sz="2000" dirty="0"/>
              <a:t>36.7%</a:t>
            </a:r>
          </a:p>
          <a:p>
            <a:pPr algn="ctr"/>
            <a:r>
              <a:rPr lang="en-US" sz="2000" dirty="0"/>
              <a:t>2,044 encounters with missing reason descriptions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Wellness           1,254</a:t>
            </a:r>
          </a:p>
          <a:p>
            <a:pPr algn="ctr"/>
            <a:r>
              <a:rPr lang="en-US" sz="2000" dirty="0"/>
              <a:t>Outpatient            393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C79732-84CC-49ED-965C-36DF5B7EF6D4}"/>
              </a:ext>
            </a:extLst>
          </p:cNvPr>
          <p:cNvSpPr txBox="1"/>
          <p:nvPr/>
        </p:nvSpPr>
        <p:spPr>
          <a:xfrm>
            <a:off x="1050757" y="5005499"/>
            <a:ext cx="106920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Review documentation requirements by encounter type and monitor reason-description completeness before classifying blank values as errors.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023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304DF5-BFD4-C424-DB4A-3252F74637EF}"/>
              </a:ext>
            </a:extLst>
          </p:cNvPr>
          <p:cNvSpPr txBox="1"/>
          <p:nvPr/>
        </p:nvSpPr>
        <p:spPr>
          <a:xfrm>
            <a:off x="834190" y="482691"/>
            <a:ext cx="10138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Healthcare Utilization &amp; Claim Cost Analysis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6AAAB53-4792-F272-03AE-49942957C08E}"/>
              </a:ext>
            </a:extLst>
          </p:cNvPr>
          <p:cNvSpPr/>
          <p:nvPr/>
        </p:nvSpPr>
        <p:spPr>
          <a:xfrm>
            <a:off x="898357" y="1227222"/>
            <a:ext cx="3031958" cy="136357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5,571</a:t>
            </a:r>
          </a:p>
          <a:p>
            <a:pPr algn="ctr"/>
            <a:r>
              <a:rPr lang="en-US" sz="2800" dirty="0"/>
              <a:t>Total Encounters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6AFF4F4-7E97-CBCB-E89D-070EF7DDBC36}"/>
              </a:ext>
            </a:extLst>
          </p:cNvPr>
          <p:cNvSpPr/>
          <p:nvPr/>
        </p:nvSpPr>
        <p:spPr>
          <a:xfrm>
            <a:off x="4195010" y="1227221"/>
            <a:ext cx="3416969" cy="136357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$16.81M</a:t>
            </a:r>
          </a:p>
          <a:p>
            <a:pPr algn="ctr"/>
            <a:r>
              <a:rPr lang="en-US" sz="2800" dirty="0"/>
              <a:t>Total Claim Costs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0BB315E-22DD-74ED-1243-E5028FAFA2E0}"/>
              </a:ext>
            </a:extLst>
          </p:cNvPr>
          <p:cNvSpPr/>
          <p:nvPr/>
        </p:nvSpPr>
        <p:spPr>
          <a:xfrm>
            <a:off x="8069179" y="1227220"/>
            <a:ext cx="3416969" cy="136357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$3.02K</a:t>
            </a:r>
          </a:p>
          <a:p>
            <a:pPr algn="ctr"/>
            <a:r>
              <a:rPr lang="en-US" sz="2800" dirty="0"/>
              <a:t>Average Claim Cost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CB03CBE-1906-B0B2-6326-165C59EB6E35}"/>
              </a:ext>
            </a:extLst>
          </p:cNvPr>
          <p:cNvSpPr/>
          <p:nvPr/>
        </p:nvSpPr>
        <p:spPr>
          <a:xfrm>
            <a:off x="1074822" y="2590799"/>
            <a:ext cx="4604084" cy="267286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Healthcare Utilization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Ambulatory – 2,939 encounters</a:t>
            </a:r>
          </a:p>
          <a:p>
            <a:pPr algn="ctr"/>
            <a:r>
              <a:rPr lang="en-US" sz="2400" dirty="0"/>
              <a:t>Wellness – 1,262 encounters</a:t>
            </a:r>
          </a:p>
          <a:p>
            <a:pPr algn="ctr"/>
            <a:r>
              <a:rPr lang="en-US" sz="2400" dirty="0"/>
              <a:t>Outpatient – 759 encounters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1613778-516F-0D85-5F98-8996C7B5B4EF}"/>
              </a:ext>
            </a:extLst>
          </p:cNvPr>
          <p:cNvSpPr/>
          <p:nvPr/>
        </p:nvSpPr>
        <p:spPr>
          <a:xfrm>
            <a:off x="6513096" y="2590798"/>
            <a:ext cx="4684295" cy="267286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Claim Costs by Encounter Type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Ambulatory - $12.82M</a:t>
            </a:r>
          </a:p>
          <a:p>
            <a:pPr algn="ctr"/>
            <a:r>
              <a:rPr lang="en-US" sz="2400" dirty="0"/>
              <a:t>Wellness - $1.21M</a:t>
            </a:r>
          </a:p>
          <a:p>
            <a:pPr algn="ctr"/>
            <a:r>
              <a:rPr lang="en-US" sz="2400" dirty="0"/>
              <a:t>Outpatient - $0.97M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DBA841-65A4-4BED-FA39-52B08A6DFB20}"/>
              </a:ext>
            </a:extLst>
          </p:cNvPr>
          <p:cNvSpPr txBox="1"/>
          <p:nvPr/>
        </p:nvSpPr>
        <p:spPr>
          <a:xfrm>
            <a:off x="561474" y="5417768"/>
            <a:ext cx="116305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Key Finding </a:t>
            </a:r>
            <a:r>
              <a:rPr lang="en-US" sz="2400" dirty="0"/>
              <a:t>:Ambulatory visits accounted for approximately 52.8% of encounters and 76.3% of total recorded claim costs, making them a priority for further cost-driver analysis.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75358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F6C1F8-FD82-D68E-015D-6BBB3C491AA1}"/>
              </a:ext>
            </a:extLst>
          </p:cNvPr>
          <p:cNvSpPr txBox="1"/>
          <p:nvPr/>
        </p:nvSpPr>
        <p:spPr>
          <a:xfrm>
            <a:off x="898358" y="397042"/>
            <a:ext cx="69943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Clinical Data Quality Dashboard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E3528A-0327-9EAF-31E6-DAD525642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327" y="1043374"/>
            <a:ext cx="8338006" cy="34639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6C5B0FC-88F7-836E-124D-E1F2313E2A45}"/>
              </a:ext>
            </a:extLst>
          </p:cNvPr>
          <p:cNvSpPr txBox="1"/>
          <p:nvPr/>
        </p:nvSpPr>
        <p:spPr>
          <a:xfrm>
            <a:off x="224589" y="4507346"/>
            <a:ext cx="1174282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Interactive functionality</a:t>
            </a:r>
            <a:r>
              <a:rPr lang="en-US" sz="2400" dirty="0"/>
              <a:t>: Users can filter by encounter class and examine missing-reason counts and percentages to support targeted data-quality monitoring.</a:t>
            </a:r>
            <a:endParaRPr lang="en-US" sz="2400" b="1" dirty="0"/>
          </a:p>
          <a:p>
            <a:endParaRPr lang="en-US" sz="2400" b="1" dirty="0"/>
          </a:p>
          <a:p>
            <a:r>
              <a:rPr lang="en-US" sz="2400" b="1" dirty="0"/>
              <a:t>Key finding </a:t>
            </a:r>
            <a:r>
              <a:rPr lang="en-US" sz="2400" dirty="0"/>
              <a:t>: Missing encounter reason descriptions are concentrated in wellness and outpatient records. Documentation requirements should be reviewed before classifying missing values as errors.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41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9A066C-8B37-43D8-61B5-95FCA0F41C3E}"/>
              </a:ext>
            </a:extLst>
          </p:cNvPr>
          <p:cNvSpPr txBox="1"/>
          <p:nvPr/>
        </p:nvSpPr>
        <p:spPr>
          <a:xfrm>
            <a:off x="-296780" y="219943"/>
            <a:ext cx="10186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Correlation Analysis &amp; Outlier Detection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818F2B-D7F2-5397-613B-D2CED3748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31" y="866275"/>
            <a:ext cx="9079832" cy="36958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222C25-45C2-2E9A-7D1E-2D78FFBC5124}"/>
              </a:ext>
            </a:extLst>
          </p:cNvPr>
          <p:cNvSpPr txBox="1"/>
          <p:nvPr/>
        </p:nvSpPr>
        <p:spPr>
          <a:xfrm>
            <a:off x="192505" y="4562130"/>
            <a:ext cx="11806989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Key findings </a:t>
            </a:r>
            <a:r>
              <a:rPr lang="en-US" sz="2400" dirty="0"/>
              <a:t>: Higher encounter counts were associated with greater total claim costs, but cost variation and extreme observations indicate that utilization alone does not explain spending.</a:t>
            </a:r>
          </a:p>
          <a:p>
            <a:r>
              <a:rPr lang="en-US" sz="2400" dirty="0"/>
              <a:t>Pearson r = 0.567 - moderate positive linear association</a:t>
            </a:r>
          </a:p>
          <a:p>
            <a:r>
              <a:rPr lang="en-US" sz="2400" dirty="0"/>
              <a:t>Spearman ρ = 0.896 - strong positive monotonic association</a:t>
            </a:r>
          </a:p>
          <a:p>
            <a:r>
              <a:rPr lang="en-US" sz="2400" dirty="0"/>
              <a:t>5 of 108 patients (4.6%) exceeded the IQR threshold of 106.5 encounters.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26065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7E0DC7-8F32-66C1-286E-E7D44C2B968A}"/>
              </a:ext>
            </a:extLst>
          </p:cNvPr>
          <p:cNvSpPr txBox="1"/>
          <p:nvPr/>
        </p:nvSpPr>
        <p:spPr>
          <a:xfrm>
            <a:off x="866275" y="513347"/>
            <a:ext cx="9865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Predictive Modeling &amp; Model Evaluation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7320756-7C18-F63E-624F-476D10BC29BB}"/>
              </a:ext>
            </a:extLst>
          </p:cNvPr>
          <p:cNvSpPr/>
          <p:nvPr/>
        </p:nvSpPr>
        <p:spPr>
          <a:xfrm>
            <a:off x="1732547" y="1636294"/>
            <a:ext cx="4363453" cy="266299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Linear Regression</a:t>
            </a:r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0.4648</a:t>
            </a:r>
          </a:p>
          <a:p>
            <a:pPr algn="ctr"/>
            <a:r>
              <a:rPr lang="en-US" sz="2000" dirty="0"/>
              <a:t>Test R²</a:t>
            </a:r>
            <a:endParaRPr lang="en-US" sz="2000" b="1" dirty="0"/>
          </a:p>
          <a:p>
            <a:r>
              <a:rPr lang="en-US" sz="2000" dirty="0"/>
              <a:t>MAE: $87,283.70</a:t>
            </a:r>
          </a:p>
          <a:p>
            <a:r>
              <a:rPr lang="en-US" sz="2000" dirty="0"/>
              <a:t>RMSE: $104,412.94</a:t>
            </a:r>
          </a:p>
          <a:p>
            <a:r>
              <a:rPr lang="en-US" sz="2000" dirty="0"/>
              <a:t>CV mean R²: 0.2160</a:t>
            </a:r>
          </a:p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A81966F-DD97-4BB6-8439-CBC4C64CEFF1}"/>
              </a:ext>
            </a:extLst>
          </p:cNvPr>
          <p:cNvSpPr/>
          <p:nvPr/>
        </p:nvSpPr>
        <p:spPr>
          <a:xfrm>
            <a:off x="6633410" y="1636294"/>
            <a:ext cx="4098759" cy="266299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Random Forest</a:t>
            </a:r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0.7781</a:t>
            </a:r>
          </a:p>
          <a:p>
            <a:pPr algn="ctr"/>
            <a:r>
              <a:rPr lang="en-US" sz="2000" dirty="0"/>
              <a:t>Test R²</a:t>
            </a:r>
            <a:endParaRPr lang="en-US" sz="2000" b="1" dirty="0"/>
          </a:p>
          <a:p>
            <a:r>
              <a:rPr lang="en-US" sz="2000" dirty="0"/>
              <a:t>MAE: $40,374.57</a:t>
            </a:r>
          </a:p>
          <a:p>
            <a:r>
              <a:rPr lang="en-US" sz="2000" dirty="0"/>
              <a:t>RMSE: $67,232.69</a:t>
            </a:r>
          </a:p>
          <a:p>
            <a:r>
              <a:rPr lang="en-US" sz="2000" dirty="0"/>
              <a:t>CV mean R²: 0.5974</a:t>
            </a:r>
          </a:p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92AFE5-88F7-054B-661D-2F82D5A485A6}"/>
              </a:ext>
            </a:extLst>
          </p:cNvPr>
          <p:cNvSpPr txBox="1"/>
          <p:nvPr/>
        </p:nvSpPr>
        <p:spPr>
          <a:xfrm>
            <a:off x="866275" y="4527081"/>
            <a:ext cx="107008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Key finding </a:t>
            </a:r>
            <a:r>
              <a:rPr lang="en-US" sz="2400" dirty="0"/>
              <a:t>:Random Forest demonstrated lower prediction errors and higher R² across the held-out test and five-fold cross-validation evaluations.</a:t>
            </a:r>
          </a:p>
          <a:p>
            <a:endParaRPr lang="en-US" sz="2400" dirty="0"/>
          </a:p>
          <a:p>
            <a:r>
              <a:rPr lang="en-US" sz="2400" b="1" dirty="0"/>
              <a:t>Limitation :</a:t>
            </a:r>
            <a:r>
              <a:rPr lang="en-US" sz="2400" dirty="0"/>
              <a:t>Exploratory retrospective analysis of 108 synthetic patients; results are not validated for future-cost forecasting</a:t>
            </a:r>
          </a:p>
        </p:txBody>
      </p:sp>
    </p:spTree>
    <p:extLst>
      <p:ext uri="{BB962C8B-B14F-4D97-AF65-F5344CB8AC3E}">
        <p14:creationId xmlns:p14="http://schemas.microsoft.com/office/powerpoint/2010/main" val="1532989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18C29A-ED3A-08AA-D4B1-914703FE333A}"/>
              </a:ext>
            </a:extLst>
          </p:cNvPr>
          <p:cNvSpPr txBox="1"/>
          <p:nvPr/>
        </p:nvSpPr>
        <p:spPr>
          <a:xfrm>
            <a:off x="529391" y="401051"/>
            <a:ext cx="103631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Medicare Part D Predictive Analytics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70C67B8-9B73-7CB4-10F1-0B60ADF82579}"/>
              </a:ext>
            </a:extLst>
          </p:cNvPr>
          <p:cNvSpPr/>
          <p:nvPr/>
        </p:nvSpPr>
        <p:spPr>
          <a:xfrm>
            <a:off x="529391" y="1523998"/>
            <a:ext cx="5871409" cy="3449054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Project Overview</a:t>
            </a:r>
          </a:p>
          <a:p>
            <a:pPr algn="ctr"/>
            <a:endParaRPr lang="en-US" sz="2000" dirty="0"/>
          </a:p>
          <a:p>
            <a:r>
              <a:rPr lang="en-US" sz="2000" b="1" dirty="0"/>
              <a:t>Source</a:t>
            </a:r>
            <a:r>
              <a:rPr lang="en-US" sz="2000" dirty="0"/>
              <a:t>: CMS Medicare Part D Public-Use Data</a:t>
            </a:r>
          </a:p>
          <a:p>
            <a:r>
              <a:rPr lang="en-US" sz="2000" b="1" dirty="0"/>
              <a:t>Period</a:t>
            </a:r>
            <a:r>
              <a:rPr lang="en-US" sz="2000" dirty="0"/>
              <a:t>: 2017–2023</a:t>
            </a:r>
          </a:p>
          <a:p>
            <a:r>
              <a:rPr lang="en-US" sz="2000" b="1" dirty="0"/>
              <a:t>Dataset</a:t>
            </a:r>
            <a:r>
              <a:rPr lang="en-US" sz="2000" dirty="0"/>
              <a:t>: Approximately 800,000 records</a:t>
            </a:r>
          </a:p>
          <a:p>
            <a:r>
              <a:rPr lang="en-US" sz="2000" b="1" dirty="0"/>
              <a:t>Objective</a:t>
            </a:r>
            <a:r>
              <a:rPr lang="en-US" sz="2000" dirty="0"/>
              <a:t>: Classify high-cost drug-spending observations to support resource prioritization.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801E72E-A181-1301-AAFD-0BDA8539AF9A}"/>
              </a:ext>
            </a:extLst>
          </p:cNvPr>
          <p:cNvSpPr/>
          <p:nvPr/>
        </p:nvSpPr>
        <p:spPr>
          <a:xfrm>
            <a:off x="6689558" y="1884948"/>
            <a:ext cx="5181600" cy="2839456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Predictive Modeling – Imputed Dataset</a:t>
            </a:r>
          </a:p>
          <a:p>
            <a:pPr algn="ctr"/>
            <a:endParaRPr lang="en-US" sz="2000" b="1" dirty="0"/>
          </a:p>
          <a:p>
            <a:r>
              <a:rPr lang="en-US" sz="2000" b="1" dirty="0"/>
              <a:t>Models</a:t>
            </a:r>
            <a:r>
              <a:rPr lang="en-US" sz="2000" dirty="0"/>
              <a:t>: Logistic Regression and Random Forest</a:t>
            </a:r>
          </a:p>
          <a:p>
            <a:r>
              <a:rPr lang="en-US" sz="2000" dirty="0"/>
              <a:t>0.9930</a:t>
            </a:r>
          </a:p>
          <a:p>
            <a:r>
              <a:rPr lang="en-US" sz="2000" dirty="0"/>
              <a:t>Random Forest ROC-AUC</a:t>
            </a:r>
          </a:p>
          <a:p>
            <a:r>
              <a:rPr lang="en-US" sz="2000" dirty="0"/>
              <a:t>0.9346</a:t>
            </a:r>
          </a:p>
          <a:p>
            <a:r>
              <a:rPr lang="en-US" sz="2000" dirty="0"/>
              <a:t>Random Forest F1-score</a:t>
            </a:r>
          </a:p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D208F1-56BB-1FC4-E1D3-EB2FC296C9DA}"/>
              </a:ext>
            </a:extLst>
          </p:cNvPr>
          <p:cNvSpPr txBox="1"/>
          <p:nvPr/>
        </p:nvSpPr>
        <p:spPr>
          <a:xfrm>
            <a:off x="529391" y="4973052"/>
            <a:ext cx="113417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Contribution &amp; Analytical Value</a:t>
            </a:r>
            <a:endParaRPr lang="en-US" sz="2000" dirty="0"/>
          </a:p>
          <a:p>
            <a:r>
              <a:rPr lang="en-US" sz="2000" dirty="0"/>
              <a:t>Contributed to the team's high-cost classification use case, applying predictive analytics to explore Medicare drug-spending patterns and support data-informed resource prioritization.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6B0BA8-321E-A2E9-4E96-235FFE48006B}"/>
              </a:ext>
            </a:extLst>
          </p:cNvPr>
          <p:cNvSpPr txBox="1"/>
          <p:nvPr/>
        </p:nvSpPr>
        <p:spPr>
          <a:xfrm>
            <a:off x="689811" y="985827"/>
            <a:ext cx="72831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Group Capstone Project | Use Case 2: High-Cost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443197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0F1720-4234-B175-023F-00EF707363F6}"/>
              </a:ext>
            </a:extLst>
          </p:cNvPr>
          <p:cNvSpPr txBox="1"/>
          <p:nvPr/>
        </p:nvSpPr>
        <p:spPr>
          <a:xfrm>
            <a:off x="802104" y="577515"/>
            <a:ext cx="101386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Operational Recommendations &amp; Conclusion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84AFD46-413C-C95E-8592-E471AF2D90A3}"/>
              </a:ext>
            </a:extLst>
          </p:cNvPr>
          <p:cNvSpPr/>
          <p:nvPr/>
        </p:nvSpPr>
        <p:spPr>
          <a:xfrm>
            <a:off x="224590" y="1347537"/>
            <a:ext cx="6095999" cy="3721768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Operational Recommendations</a:t>
            </a:r>
          </a:p>
          <a:p>
            <a:pPr algn="ctr"/>
            <a:endParaRPr lang="en-US" dirty="0"/>
          </a:p>
          <a:p>
            <a:r>
              <a:rPr lang="en-US" dirty="0"/>
              <a:t>1. Documentation quality: Review missing encounter reasons against visit-specific documentation requirements.</a:t>
            </a:r>
          </a:p>
          <a:p>
            <a:r>
              <a:rPr lang="en-US" dirty="0"/>
              <a:t>2. Cost monitoring: Investigate drivers of ambulatory claim costs.</a:t>
            </a:r>
          </a:p>
          <a:p>
            <a:r>
              <a:rPr lang="en-US" dirty="0"/>
              <a:t>3. Utilization monitoring: Review unusually high encounter volumes for operational patterns.</a:t>
            </a:r>
          </a:p>
          <a:p>
            <a:r>
              <a:rPr lang="en-US" dirty="0"/>
              <a:t>4. Ongoing reporting: Use interactive dashboards to monitor trends and data completeness</a:t>
            </a:r>
          </a:p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90E4B64-C7B8-6BC2-19D7-F3AF8D32DFC1}"/>
              </a:ext>
            </a:extLst>
          </p:cNvPr>
          <p:cNvSpPr/>
          <p:nvPr/>
        </p:nvSpPr>
        <p:spPr>
          <a:xfrm>
            <a:off x="6481011" y="1347537"/>
            <a:ext cx="5710989" cy="3721768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Study Limitations</a:t>
            </a:r>
          </a:p>
          <a:p>
            <a:pPr algn="ctr"/>
            <a:endParaRPr lang="en-US" dirty="0"/>
          </a:p>
          <a:p>
            <a:r>
              <a:rPr lang="en-US" dirty="0"/>
              <a:t>Synthetic data: Findings do not represent actual hospital performance.</a:t>
            </a:r>
          </a:p>
          <a:p>
            <a:r>
              <a:rPr lang="en-US" dirty="0"/>
              <a:t>Sample size: Predictive analysis used only 108 patients.</a:t>
            </a:r>
          </a:p>
          <a:p>
            <a:r>
              <a:rPr lang="en-US" dirty="0"/>
              <a:t>Retrospective models: Completed encounter counts were used to estimate accumulated claim costs.</a:t>
            </a:r>
          </a:p>
          <a:p>
            <a:r>
              <a:rPr lang="en-US" dirty="0"/>
              <a:t>Validation: Models are not clinically validated for future-cost prediction.</a:t>
            </a:r>
          </a:p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9C9B5D-961E-D767-A451-42B2C557BB27}"/>
              </a:ext>
            </a:extLst>
          </p:cNvPr>
          <p:cNvSpPr txBox="1"/>
          <p:nvPr/>
        </p:nvSpPr>
        <p:spPr>
          <a:xfrm>
            <a:off x="425116" y="5069305"/>
            <a:ext cx="1134176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Conclusion</a:t>
            </a:r>
          </a:p>
          <a:p>
            <a:r>
              <a:rPr lang="en-US" sz="2000" dirty="0"/>
              <a:t>Integrated Excel, MySQL, Power BI, and Python to demonstrate healthcare data validation, utilization analysis, clinical data quality monitoring, and exploratory predictive analytics.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063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733</Words>
  <Application>Microsoft Office PowerPoint</Application>
  <PresentationFormat>Widescreen</PresentationFormat>
  <Paragraphs>137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Healthcare Patient &amp; Encounter Analytics</vt:lpstr>
      <vt:lpstr>Healthcare Business Problem &amp; Objectives </vt:lpstr>
      <vt:lpstr>Dataset Description &amp; Analytical Workflow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Jayasree K</dc:creator>
  <cp:lastModifiedBy>Jayasree K</cp:lastModifiedBy>
  <cp:revision>1</cp:revision>
  <dcterms:created xsi:type="dcterms:W3CDTF">2026-10-20T11:26:16Z</dcterms:created>
  <dcterms:modified xsi:type="dcterms:W3CDTF">2026-10-20T22:29:29Z</dcterms:modified>
</cp:coreProperties>
</file>